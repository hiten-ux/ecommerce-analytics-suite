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MuseoModerno Thin"/>
      <p:regular r:id="rId201314"/>
    </p:embeddedFont>
    <p:embeddedFont>
      <p:font typeface="MuseoModerno ExtraLight"/>
      <p:regular r:id="rId201315"/>
    </p:embeddedFont>
    <p:embeddedFont>
      <p:font typeface="MuseoModerno Light"/>
      <p:regular r:id="rId201316"/>
    </p:embeddedFont>
    <p:embeddedFont>
      <p:font typeface="MuseoModerno"/>
      <p:regular r:id="rId201317"/>
    </p:embeddedFont>
    <p:embeddedFont>
      <p:font typeface="MuseoModerno Medium"/>
      <p:regular r:id="rId201318"/>
    </p:embeddedFont>
    <p:embeddedFont>
      <p:font typeface="MuseoModerno SemiBold"/>
      <p:regular r:id="rId201319"/>
    </p:embeddedFont>
    <p:embeddedFont>
      <p:font typeface="MuseoModerno Bold"/>
      <p:regular r:id="rId201320"/>
    </p:embeddedFont>
    <p:embeddedFont>
      <p:font typeface="MuseoModerno ExtraBold"/>
      <p:regular r:id="rId201321"/>
    </p:embeddedFont>
    <p:embeddedFont>
      <p:font typeface="MuseoModerno Black"/>
      <p:regular r:id="rId201322"/>
    </p:embeddedFont>
    <p:embeddedFont>
      <p:font typeface="Source Sans 3 ExtraLight"/>
      <p:regular r:id="rId201323"/>
    </p:embeddedFont>
    <p:embeddedFont>
      <p:font typeface="Source Sans 3 Light"/>
      <p:regular r:id="rId201324"/>
    </p:embeddedFont>
    <p:embeddedFont>
      <p:font typeface="Source Sans 3"/>
      <p:regular r:id="rId201325"/>
    </p:embeddedFont>
    <p:embeddedFont>
      <p:font typeface="Source Sans 3 Medium"/>
      <p:regular r:id="rId201326"/>
    </p:embeddedFont>
    <p:embeddedFont>
      <p:font typeface="Source Sans 3 SemiBold"/>
      <p:regular r:id="rId201327"/>
    </p:embeddedFont>
    <p:embeddedFont>
      <p:font typeface="Source Sans 3 Bold"/>
      <p:regular r:id="rId201328"/>
    </p:embeddedFont>
    <p:embeddedFont>
      <p:font typeface="Source Sans 3 ExtraBold"/>
      <p:regular r:id="rId201329"/>
    </p:embeddedFont>
    <p:embeddedFont>
      <p:font typeface="Source Sans 3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6513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E-Commerce Business Intelligence Suite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563713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complete MySQL analytics project — translating raw transactional data into board-ready strategic insight.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176811"/>
            <a:ext cx="911796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325F7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10174" y="3219301"/>
            <a:ext cx="119888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HITEN SOLANKI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907756" y="3176811"/>
            <a:ext cx="1748879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325F7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92812" y="3219301"/>
            <a:ext cx="203596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B.COM · DATA ANALYTICS + GEN AI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925119" y="3463007"/>
            <a:ext cx="2236663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325F7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10174" y="3505498"/>
            <a:ext cx="252375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BUSINESS ANALYST · UK / DUBAI / GERMANY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232624" y="3463007"/>
            <a:ext cx="1294061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325F7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17679" y="3505498"/>
            <a:ext cx="158115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25F7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GITHUB.COM/HITEN-UX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377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Agenda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802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002185"/>
            <a:ext cx="2622724" cy="1905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2111127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The Business Problem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417638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Siloed data, unmeasured revenue leakage, and zero retention strategy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60601" y="17802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2002185"/>
            <a:ext cx="2622724" cy="1905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9" name="Text 7"/>
          <p:cNvSpPr/>
          <p:nvPr/>
        </p:nvSpPr>
        <p:spPr>
          <a:xfrm>
            <a:off x="3260601" y="2111127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Data Model &amp; Tech Stack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60601" y="2417638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 normalised tables, 13 analytical views, MySQL 8.0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25083" y="17802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2002185"/>
            <a:ext cx="2622724" cy="1905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13" name="Text 11"/>
          <p:cNvSpPr/>
          <p:nvPr/>
        </p:nvSpPr>
        <p:spPr>
          <a:xfrm>
            <a:off x="6025083" y="2111127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Five Key Business Insights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25083" y="2417638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Revenue, customers, products, inventory, and seasonality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311928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341191"/>
            <a:ext cx="4004965" cy="1905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17" name="Text 15"/>
          <p:cNvSpPr/>
          <p:nvPr/>
        </p:nvSpPr>
        <p:spPr>
          <a:xfrm>
            <a:off x="496119" y="3450134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Technical Deep-Dive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6119" y="3756645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Window functions, CTEs, and RFM segmentation logic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2842" y="311928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2842" y="3341191"/>
            <a:ext cx="4004965" cy="1905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21" name="Text 19"/>
          <p:cNvSpPr/>
          <p:nvPr/>
        </p:nvSpPr>
        <p:spPr>
          <a:xfrm>
            <a:off x="4642842" y="3450134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Recommendations &amp; Next Steps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642842" y="3756645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Actionable priorities to recover ₹16.85 Lakhs and reduce churn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9277"/>
            <a:ext cx="4722763" cy="114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The Problem: Operating Without a Single Source of Truth</a:t>
            </a:r>
            <a:endParaRPr lang="en-US" sz="2350" dirty="0"/>
          </a:p>
        </p:txBody>
      </p:sp>
      <p:sp>
        <p:nvSpPr>
          <p:cNvPr id="4" name="Shape 1"/>
          <p:cNvSpPr/>
          <p:nvPr/>
        </p:nvSpPr>
        <p:spPr>
          <a:xfrm>
            <a:off x="496119" y="1708398"/>
            <a:ext cx="4722763" cy="677987"/>
          </a:xfrm>
          <a:prstGeom prst="roundRect">
            <a:avLst>
              <a:gd name="adj" fmla="val 2695"/>
            </a:avLst>
          </a:prstGeom>
          <a:solidFill>
            <a:srgbClr val="F3EEE3"/>
          </a:solidFill>
          <a:ln/>
        </p:spPr>
      </p:sp>
      <p:sp>
        <p:nvSpPr>
          <p:cNvPr id="5" name="Text 2"/>
          <p:cNvSpPr/>
          <p:nvPr/>
        </p:nvSpPr>
        <p:spPr>
          <a:xfrm>
            <a:off x="617934" y="1830214"/>
            <a:ext cx="447913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No Executive Dashboard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17934" y="2083371"/>
            <a:ext cx="447913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unified KPI view for leadership. Decisions made without data.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96119" y="2491011"/>
            <a:ext cx="4722763" cy="677987"/>
          </a:xfrm>
          <a:prstGeom prst="roundRect">
            <a:avLst>
              <a:gd name="adj" fmla="val 2695"/>
            </a:avLst>
          </a:prstGeom>
          <a:solidFill>
            <a:srgbClr val="F3EEE3"/>
          </a:solidFill>
          <a:ln/>
        </p:spPr>
      </p:sp>
      <p:sp>
        <p:nvSpPr>
          <p:cNvPr id="8" name="Text 5"/>
          <p:cNvSpPr/>
          <p:nvPr/>
        </p:nvSpPr>
        <p:spPr>
          <a:xfrm>
            <a:off x="617934" y="2612827"/>
            <a:ext cx="447913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₹16.85 Lakhs Lost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17934" y="2865983"/>
            <a:ext cx="447913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16.6% of gross revenue lost to cancellations and returns — unmeasured.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96119" y="3273623"/>
            <a:ext cx="4722763" cy="677987"/>
          </a:xfrm>
          <a:prstGeom prst="roundRect">
            <a:avLst>
              <a:gd name="adj" fmla="val 2695"/>
            </a:avLst>
          </a:prstGeom>
          <a:solidFill>
            <a:srgbClr val="F3EEE3"/>
          </a:solidFill>
          <a:ln/>
        </p:spPr>
      </p:sp>
      <p:sp>
        <p:nvSpPr>
          <p:cNvPr id="11" name="Text 8"/>
          <p:cNvSpPr/>
          <p:nvPr/>
        </p:nvSpPr>
        <p:spPr>
          <a:xfrm>
            <a:off x="617934" y="3395439"/>
            <a:ext cx="447913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Reactive Inventory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7934" y="3648596"/>
            <a:ext cx="447913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18 products critically low. Stockouts triggered by guesswork, not data.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96119" y="4056236"/>
            <a:ext cx="4722763" cy="677987"/>
          </a:xfrm>
          <a:prstGeom prst="roundRect">
            <a:avLst>
              <a:gd name="adj" fmla="val 2695"/>
            </a:avLst>
          </a:prstGeom>
          <a:solidFill>
            <a:srgbClr val="F3EEE3"/>
          </a:solidFill>
          <a:ln/>
        </p:spPr>
      </p:sp>
      <p:sp>
        <p:nvSpPr>
          <p:cNvPr id="14" name="Text 11"/>
          <p:cNvSpPr/>
          <p:nvPr/>
        </p:nvSpPr>
        <p:spPr>
          <a:xfrm>
            <a:off x="617934" y="4178052"/>
            <a:ext cx="447913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Zero Retention Strategy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17934" y="4431209"/>
            <a:ext cx="447913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23.6% of customers churned — inactive over 90 days with no intervention.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The Solution: A Unified MySQL Analytics Suite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348136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Architecture at a Glance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500015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Four normalised tables (3NF) linked by foreign keys. Thirteen pre-built views deliver instant reporting — no manual extraction required.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710979"/>
            <a:ext cx="3986733" cy="3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MySQL 8.0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Window functions, CTEs, NTILE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4 tables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Customers, Products, Categories, Orders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13 views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Pre-built for executive reporting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GitHub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Version-controlled, fully reproducible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43744"/>
            <a:ext cx="880095" cy="215354"/>
          </a:xfrm>
          <a:prstGeom prst="roundRect">
            <a:avLst>
              <a:gd name="adj" fmla="val 7900"/>
            </a:avLst>
          </a:prstGeom>
          <a:solidFill>
            <a:srgbClr val="DBE8F0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86234"/>
            <a:ext cx="116718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INSIGHT 1 OF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1580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Revenue Leakage: ₹16.85 Lakhs Recoverable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30859"/>
            <a:ext cx="3902943" cy="28093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9701" y="161314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What the Data Reveals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1976363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16.6%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gross revenue is lost to cancellations and returns — entirely untracked in current reporting.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49701" y="2557537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Realised revenue: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₹84,72,189.24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Lost revenue: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₹16,85,472.89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Top 5 high-risk products carry a bad-order rate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&gt;35%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49701" y="3496568"/>
            <a:ext cx="3902943" cy="779562"/>
          </a:xfrm>
          <a:prstGeom prst="roundRect">
            <a:avLst>
              <a:gd name="adj" fmla="val 2728"/>
            </a:avLst>
          </a:prstGeom>
          <a:solidFill>
            <a:srgbClr val="DBE8F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702100"/>
            <a:ext cx="177180" cy="1417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0398" y="3659535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Recommendation: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Investigate quality and supplier issues on high-risk products immediately.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7434"/>
            <a:ext cx="866626" cy="212006"/>
          </a:xfrm>
          <a:prstGeom prst="roundRect">
            <a:avLst>
              <a:gd name="adj" fmla="val 7899"/>
            </a:avLst>
          </a:prstGeom>
          <a:solidFill>
            <a:srgbClr val="DBE8F0"/>
          </a:solidFill>
          <a:ln/>
        </p:spPr>
      </p:sp>
      <p:sp>
        <p:nvSpPr>
          <p:cNvPr id="3" name="Text 1"/>
          <p:cNvSpPr/>
          <p:nvPr/>
        </p:nvSpPr>
        <p:spPr>
          <a:xfrm>
            <a:off x="579834" y="469255"/>
            <a:ext cx="1156395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INSIGHT 2 OF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694358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Customer Health: RFM Segmentation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0960"/>
            <a:ext cx="3905696" cy="28112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6947" y="1473845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Segment Breakdown — 1,000 Customers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6947" y="1829246"/>
            <a:ext cx="3905696" cy="1251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Champions (18.7%):</a:t>
            </a:r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187 customers — highest spenders, recently active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Loyal (31.2%):</a:t>
            </a:r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312 customers — steady, reliable buyers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At-Risk (26.5%):</a:t>
            </a:r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265 customers — engagement declining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Lost (23.6%):</a:t>
            </a:r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236 customers — inactive over 90 days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46947" y="3204344"/>
            <a:ext cx="390569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Champions spend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4.2×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more than Lost customers. Average time to second purchase: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47 days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46947" y="3801740"/>
            <a:ext cx="3905696" cy="759768"/>
          </a:xfrm>
          <a:prstGeom prst="roundRect">
            <a:avLst>
              <a:gd name="adj" fmla="val 2755"/>
            </a:avLst>
          </a:prstGeom>
          <a:solidFill>
            <a:srgbClr val="DBE8F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474" y="4006379"/>
            <a:ext cx="174427" cy="13952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00427" y="3960168"/>
            <a:ext cx="331269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Recommendation: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Launch a targeted win-back campaign for 501 At-Risk and Lost customers.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70235"/>
            <a:ext cx="852339" cy="208583"/>
          </a:xfrm>
          <a:prstGeom prst="roundRect">
            <a:avLst>
              <a:gd name="adj" fmla="val 7901"/>
            </a:avLst>
          </a:prstGeom>
          <a:solidFill>
            <a:srgbClr val="DBE8F0"/>
          </a:solidFill>
          <a:ln/>
        </p:spPr>
      </p:sp>
      <p:sp>
        <p:nvSpPr>
          <p:cNvPr id="3" name="Text 1"/>
          <p:cNvSpPr/>
          <p:nvPr/>
        </p:nvSpPr>
        <p:spPr>
          <a:xfrm>
            <a:off x="578495" y="611386"/>
            <a:ext cx="1144786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INSIGHT 3 OF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32024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Product Strategy: The Pareto 80-20 Rule in Action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10320"/>
            <a:ext cx="3908375" cy="28132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4269" y="1593652"/>
            <a:ext cx="39083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What the Classification Reveals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4269" y="1941165"/>
            <a:ext cx="3908375" cy="741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A-Class: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42 products (8.4%) drive 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80%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all revenue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B-Class: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68 products (13.6%) contribute 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15%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revenue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C-Class: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390 products (78%) generate only 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5%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revenue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44269" y="2802880"/>
            <a:ext cx="3908375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Top 10 customers alone contribute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12.7%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total revenue. Motorcycles category has the highest AOV but the lowest volume.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44269" y="3385170"/>
            <a:ext cx="3908375" cy="740718"/>
          </a:xfrm>
          <a:prstGeom prst="roundRect">
            <a:avLst>
              <a:gd name="adj" fmla="val 2781"/>
            </a:avLst>
          </a:prstGeom>
          <a:solidFill>
            <a:srgbClr val="DBE8F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563" y="3584228"/>
            <a:ext cx="171599" cy="1372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90455" y="3539207"/>
            <a:ext cx="3324895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Recommendation: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Focus marketing on A-Class. Clear C-Class inventory with targeted discounts.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1779"/>
            <a:ext cx="770186" cy="188565"/>
          </a:xfrm>
          <a:prstGeom prst="roundRect">
            <a:avLst>
              <a:gd name="adj" fmla="val 7894"/>
            </a:avLst>
          </a:prstGeom>
          <a:solidFill>
            <a:srgbClr val="DBE8F0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458986"/>
            <a:ext cx="1078557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INSIGHT 4 OF 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5372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Inventory Risk: 8 Products in Critical Status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96119" y="1204020"/>
            <a:ext cx="8151763" cy="2941588"/>
          </a:xfrm>
          <a:prstGeom prst="roundRect">
            <a:avLst>
              <a:gd name="adj" fmla="val 63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0881" y="1208782"/>
            <a:ext cx="8142238" cy="32578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25004" y="1278657"/>
            <a:ext cx="183527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Product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55788" y="1278657"/>
            <a:ext cx="167007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Current Stock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721373" y="1278657"/>
            <a:ext cx="199571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Avg Daily Demand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12594" y="1278657"/>
            <a:ext cx="346375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Status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0881" y="1534567"/>
            <a:ext cx="8142238" cy="32578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25004" y="1604442"/>
            <a:ext cx="183527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Product_323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55788" y="1604442"/>
            <a:ext cx="167007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721373" y="1604442"/>
            <a:ext cx="199571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2.4 units/day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512594" y="1604442"/>
            <a:ext cx="346375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⚠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609D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 CRITICAL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0881" y="1860352"/>
            <a:ext cx="8142238" cy="32578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25004" y="1930226"/>
            <a:ext cx="183527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Product_284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255788" y="1930226"/>
            <a:ext cx="167007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721373" y="1930226"/>
            <a:ext cx="199571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1.8 units/day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512594" y="1930226"/>
            <a:ext cx="346375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⚠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609D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 CRITICAL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0881" y="2186136"/>
            <a:ext cx="8142238" cy="32578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25004" y="2256011"/>
            <a:ext cx="183527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Product_289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255788" y="2256011"/>
            <a:ext cx="167007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721373" y="2256011"/>
            <a:ext cx="199571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3.2 units/day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512594" y="2256011"/>
            <a:ext cx="346375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⚠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609D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 CRITICAL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0881" y="2511921"/>
            <a:ext cx="8142238" cy="32578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25004" y="2581796"/>
            <a:ext cx="183527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Product_353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255788" y="2581796"/>
            <a:ext cx="167007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721373" y="2581796"/>
            <a:ext cx="199571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5.1 units/day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512594" y="2581796"/>
            <a:ext cx="346375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⚠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609D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 CRITICAL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0881" y="2837706"/>
            <a:ext cx="8142238" cy="32578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25004" y="2907581"/>
            <a:ext cx="183527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Product_473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255788" y="2907581"/>
            <a:ext cx="167007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721373" y="2907581"/>
            <a:ext cx="199571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4.7 units/day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512594" y="2907581"/>
            <a:ext cx="346375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⚠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609D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 CRITICAL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0881" y="3163491"/>
            <a:ext cx="8142238" cy="32578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25004" y="3233365"/>
            <a:ext cx="183527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Product_434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255788" y="3233365"/>
            <a:ext cx="167007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721373" y="3233365"/>
            <a:ext cx="199571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6.3 units/day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512594" y="3233365"/>
            <a:ext cx="346375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⚠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609D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 CRITICAL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00881" y="3489275"/>
            <a:ext cx="8142238" cy="32578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25004" y="3559150"/>
            <a:ext cx="183527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Product_4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255788" y="3559150"/>
            <a:ext cx="167007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721373" y="3559150"/>
            <a:ext cx="199571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5.9 units/day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512594" y="3559150"/>
            <a:ext cx="346375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⚠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609D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 CRITICAL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00881" y="3815060"/>
            <a:ext cx="8142238" cy="32578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25004" y="3884935"/>
            <a:ext cx="183527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Product_122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255788" y="3884935"/>
            <a:ext cx="167007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721373" y="3884935"/>
            <a:ext cx="199571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7.2 units/day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512594" y="3884935"/>
            <a:ext cx="346375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⚠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609D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 CRITICAL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96119" y="4267646"/>
            <a:ext cx="8151763" cy="454075"/>
          </a:xfrm>
          <a:prstGeom prst="roundRect">
            <a:avLst>
              <a:gd name="adj" fmla="val 4098"/>
            </a:avLst>
          </a:prstGeom>
          <a:solidFill>
            <a:srgbClr val="FCF2B5"/>
          </a:solidFill>
          <a:ln/>
        </p:spPr>
      </p:sp>
      <p:pic>
        <p:nvPicPr>
          <p:cNvPr id="5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4442668"/>
            <a:ext cx="155004" cy="123974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899071" y="4407098"/>
            <a:ext cx="8082037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Action required: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Trigger immediate reorders for all 8 flagged products. 18 products total are below the critical stock threshold of 10 units.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02741"/>
            <a:ext cx="852339" cy="208583"/>
          </a:xfrm>
          <a:prstGeom prst="roundRect">
            <a:avLst>
              <a:gd name="adj" fmla="val 7901"/>
            </a:avLst>
          </a:prstGeom>
          <a:solidFill>
            <a:srgbClr val="DBE8F0"/>
          </a:solidFill>
          <a:ln/>
        </p:spPr>
      </p:sp>
      <p:sp>
        <p:nvSpPr>
          <p:cNvPr id="3" name="Text 1"/>
          <p:cNvSpPr/>
          <p:nvPr/>
        </p:nvSpPr>
        <p:spPr>
          <a:xfrm>
            <a:off x="578495" y="543892"/>
            <a:ext cx="1144786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INSIGHT 5 OF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64530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Seasonality: Q4 Drives 40%+ of Annual Revenue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42827"/>
            <a:ext cx="3908375" cy="28132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4269" y="1526158"/>
            <a:ext cx="39083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Top 3 Revenue Months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4269" y="1873672"/>
            <a:ext cx="3908375" cy="741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December 2023: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₹12,45,892.34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November 2023: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₹11,87,456.78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October 2023: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₹10,56,234.56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44269" y="2735387"/>
            <a:ext cx="3908375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Q4 (October–December) consistently generates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2B415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over 40%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total annual revenue. Customer acquisition trends show month-over-month growth, reinforcing the need to align marketing spend with this seasonal pattern.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44269" y="3750320"/>
            <a:ext cx="3908375" cy="740718"/>
          </a:xfrm>
          <a:prstGeom prst="roundRect">
            <a:avLst>
              <a:gd name="adj" fmla="val 2781"/>
            </a:avLst>
          </a:prstGeom>
          <a:solidFill>
            <a:srgbClr val="DBE8F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563" y="3949378"/>
            <a:ext cx="171599" cy="1372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90455" y="3904357"/>
            <a:ext cx="3324895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Recommendation: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Pre-stock inventory by September. Align marketing budgets to the Q4 surge.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8161"/>
            <a:ext cx="8151763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Technical Deep-Dive: SQL That Drives Business Decisions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10308"/>
            <a:ext cx="2631430" cy="25570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6430" y="1664419"/>
            <a:ext cx="224700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ABC Classification — Window Function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26430" y="2231529"/>
            <a:ext cx="2247007" cy="903461"/>
          </a:xfrm>
          <a:prstGeom prst="roundRect">
            <a:avLst>
              <a:gd name="adj" fmla="val 2243"/>
            </a:avLst>
          </a:prstGeom>
          <a:solidFill>
            <a:srgbClr val="F2EFE8"/>
          </a:solidFill>
          <a:ln/>
        </p:spPr>
      </p:sp>
      <p:sp>
        <p:nvSpPr>
          <p:cNvPr id="6" name="Shape 3"/>
          <p:cNvSpPr/>
          <p:nvPr/>
        </p:nvSpPr>
        <p:spPr>
          <a:xfrm>
            <a:off x="719733" y="2231529"/>
            <a:ext cx="2260402" cy="903461"/>
          </a:xfrm>
          <a:prstGeom prst="roundRect">
            <a:avLst>
              <a:gd name="adj" fmla="val 2243"/>
            </a:avLst>
          </a:prstGeom>
          <a:solidFill>
            <a:srgbClr val="F2EFE8"/>
          </a:solidFill>
          <a:ln/>
        </p:spPr>
      </p:sp>
      <p:sp>
        <p:nvSpPr>
          <p:cNvPr id="7" name="Text 4"/>
          <p:cNvSpPr/>
          <p:nvPr/>
        </p:nvSpPr>
        <p:spPr>
          <a:xfrm>
            <a:off x="888578" y="2366590"/>
            <a:ext cx="1922711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3620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SUM(revenue) OVER (ORDER BY revenue DESC) / grand_total AS cumulative_pct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26430" y="3279874"/>
            <a:ext cx="224700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Classifies 500 products into A/B/C tiers for inventory prioritisation.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6285" y="1510308"/>
            <a:ext cx="2631430" cy="25570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86596" y="1664419"/>
            <a:ext cx="224700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Cohort Retention — CTE + Join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486596" y="2231529"/>
            <a:ext cx="2247007" cy="1114574"/>
          </a:xfrm>
          <a:prstGeom prst="roundRect">
            <a:avLst>
              <a:gd name="adj" fmla="val 1818"/>
            </a:avLst>
          </a:prstGeom>
          <a:solidFill>
            <a:srgbClr val="F2EFE8"/>
          </a:solidFill>
          <a:ln/>
        </p:spPr>
      </p:sp>
      <p:sp>
        <p:nvSpPr>
          <p:cNvPr id="12" name="Shape 8"/>
          <p:cNvSpPr/>
          <p:nvPr/>
        </p:nvSpPr>
        <p:spPr>
          <a:xfrm>
            <a:off x="3479899" y="2231529"/>
            <a:ext cx="2260402" cy="1114574"/>
          </a:xfrm>
          <a:prstGeom prst="roundRect">
            <a:avLst>
              <a:gd name="adj" fmla="val 1818"/>
            </a:avLst>
          </a:prstGeom>
          <a:solidFill>
            <a:srgbClr val="F2EFE8"/>
          </a:solidFill>
          <a:ln/>
        </p:spPr>
      </p:sp>
      <p:sp>
        <p:nvSpPr>
          <p:cNvPr id="13" name="Text 9"/>
          <p:cNvSpPr/>
          <p:nvPr/>
        </p:nvSpPr>
        <p:spPr>
          <a:xfrm>
            <a:off x="3648745" y="2366590"/>
            <a:ext cx="1922711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3620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TIMESTAMPDIFF(MONTH, first_date, Order_Date) AS month_index, revenue_per_customer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486596" y="3490987"/>
            <a:ext cx="224700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Tracks whether newer cohorts spend less — critical for marketing ROI.</a:t>
            </a:r>
            <a:endParaRPr lang="en-US" sz="10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6451" y="1510308"/>
            <a:ext cx="2631430" cy="25570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46763" y="1664419"/>
            <a:ext cx="224700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RFM Segmentation — NTILE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246763" y="2231529"/>
            <a:ext cx="2247007" cy="903461"/>
          </a:xfrm>
          <a:prstGeom prst="roundRect">
            <a:avLst>
              <a:gd name="adj" fmla="val 2243"/>
            </a:avLst>
          </a:prstGeom>
          <a:solidFill>
            <a:srgbClr val="F2EFE8"/>
          </a:solidFill>
          <a:ln/>
        </p:spPr>
      </p:sp>
      <p:sp>
        <p:nvSpPr>
          <p:cNvPr id="18" name="Shape 13"/>
          <p:cNvSpPr/>
          <p:nvPr/>
        </p:nvSpPr>
        <p:spPr>
          <a:xfrm>
            <a:off x="6240066" y="2231529"/>
            <a:ext cx="2260402" cy="903461"/>
          </a:xfrm>
          <a:prstGeom prst="roundRect">
            <a:avLst>
              <a:gd name="adj" fmla="val 2243"/>
            </a:avLst>
          </a:prstGeom>
          <a:solidFill>
            <a:srgbClr val="F2EFE8"/>
          </a:solidFill>
          <a:ln/>
        </p:spPr>
      </p:sp>
      <p:sp>
        <p:nvSpPr>
          <p:cNvPr id="19" name="Text 14"/>
          <p:cNvSpPr/>
          <p:nvPr/>
        </p:nvSpPr>
        <p:spPr>
          <a:xfrm>
            <a:off x="6408911" y="2366590"/>
            <a:ext cx="1922711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36209"/>
                </a:solidFill>
                <a:highlight>
                  <a:srgbClr val="F2EF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NTILE(4) OVER (ORDER BY recency_days DESC) AS r_score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246763" y="3279874"/>
            <a:ext cx="224700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Segments 1,000 customers into Champions, Loyal, At-Risk, and Lost.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96119" y="4212208"/>
            <a:ext cx="8151763" cy="523131"/>
          </a:xfrm>
          <a:prstGeom prst="roundRect">
            <a:avLst>
              <a:gd name="adj" fmla="val 3874"/>
            </a:avLst>
          </a:prstGeom>
          <a:solidFill>
            <a:srgbClr val="DBE8F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180" y="4400848"/>
            <a:ext cx="168846" cy="13506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5087" y="4374654"/>
            <a:ext cx="803493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 repository: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github.com/hiten-ux/ecommerce-analytics-suite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2026-07-20T15:09:27Z</dcterms:created>
  <dcterms:modified xsi:type="dcterms:W3CDTF">2026-07-20T15:09:27Z</dcterms:modified>
</cp:coreProperties>
</file>